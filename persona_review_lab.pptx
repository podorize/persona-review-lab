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e6430ce6_3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be6430ce6_3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be6430ce6_3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e6430ce6_3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g3fbe6430ce6_3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be6430ce6_3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be6430ce6_3_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3fbe6430ce6_3_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be6430ce6_3_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e6430ce6_3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be6430ce6_3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be6430ce6_3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e6430ce6_3_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3fbe6430ce6_3_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be6430ce6_3_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e6430ce6_3_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be6430ce6_3_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be6430ce6_3_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e6430ce6_3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fbe6430ce6_3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be6430ce6_3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e6430ce6_3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fbe6430ce6_3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e6430ce6_3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e6430ce6_3_1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fbe6430ce6_3_1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be6430ce6_3_1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185737" cy="5143500"/>
          </a:xfrm>
          <a:prstGeom prst="rect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00075" y="842963"/>
            <a:ext cx="542925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1000"/>
              <a:buFont typeface="Helvetica Neue"/>
              <a:buNone/>
            </a:pPr>
            <a:r>
              <a:rPr b="1" lang="pt-BR" sz="10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Relato de desenvolvimento</a:t>
            </a:r>
            <a:endParaRPr sz="1100"/>
          </a:p>
        </p:txBody>
      </p:sp>
      <p:sp>
        <p:nvSpPr>
          <p:cNvPr id="60" name="Google Shape;60;p15"/>
          <p:cNvSpPr/>
          <p:nvPr/>
        </p:nvSpPr>
        <p:spPr>
          <a:xfrm>
            <a:off x="600075" y="1200150"/>
            <a:ext cx="5857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700"/>
              <a:buFont typeface="Helvetica Neue"/>
              <a:buNone/>
            </a:pPr>
            <a:r>
              <a:rPr b="1" lang="pt-BR" sz="27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</a:t>
            </a:r>
            <a:endParaRPr sz="1100"/>
          </a:p>
        </p:txBody>
      </p:sp>
      <p:sp>
        <p:nvSpPr>
          <p:cNvPr id="61" name="Google Shape;61;p15"/>
          <p:cNvSpPr/>
          <p:nvPr/>
        </p:nvSpPr>
        <p:spPr>
          <a:xfrm>
            <a:off x="614363" y="1857375"/>
            <a:ext cx="5429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1500"/>
              <a:buFont typeface="Helvetica Neue"/>
              <a:buNone/>
            </a:pPr>
            <a:r>
              <a:rPr b="0" lang="pt-BR" sz="15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experimento </a:t>
            </a:r>
            <a:r>
              <a:rPr lang="pt-BR" sz="15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simples</a:t>
            </a:r>
            <a:r>
              <a:rPr b="0" lang="pt-BR" sz="15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 avaliar personas sintéticas com uma prática spec-driven.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Contexto</a:t>
            </a:r>
            <a:endParaRPr sz="1100"/>
          </a:p>
        </p:txBody>
      </p:sp>
      <p:sp>
        <p:nvSpPr>
          <p:cNvPr id="68" name="Google Shape;68;p16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 e recorte</a:t>
            </a:r>
            <a:endParaRPr sz="1100"/>
          </a:p>
        </p:txBody>
      </p:sp>
      <p:sp>
        <p:nvSpPr>
          <p:cNvPr id="69" name="Google Shape;69;p16"/>
          <p:cNvSpPr/>
          <p:nvPr/>
        </p:nvSpPr>
        <p:spPr>
          <a:xfrm>
            <a:off x="600075" y="1271588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757238" y="1214438"/>
            <a:ext cx="441483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300"/>
              <a:buFont typeface="Helvetica Neue"/>
              <a:buNone/>
            </a:pPr>
            <a:r>
              <a:rPr b="0"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pergunta prática era se mais contexto de persona aproxima a review sintética de uma review real.</a:t>
            </a:r>
            <a:endParaRPr sz="1100"/>
          </a:p>
        </p:txBody>
      </p:sp>
      <p:sp>
        <p:nvSpPr>
          <p:cNvPr id="71" name="Google Shape;71;p16"/>
          <p:cNvSpPr/>
          <p:nvPr/>
        </p:nvSpPr>
        <p:spPr>
          <a:xfrm>
            <a:off x="600075" y="1828800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757238" y="1771650"/>
            <a:ext cx="441483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300"/>
              <a:buFont typeface="Helvetica Neue"/>
              <a:buNone/>
            </a:pPr>
            <a:r>
              <a:rPr b="0"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unidade experimental </a:t>
            </a:r>
            <a:r>
              <a:rPr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</a:t>
            </a:r>
            <a:r>
              <a:rPr b="0"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um PDF, uma review real e quatro reviews geradas.</a:t>
            </a:r>
            <a:endParaRPr sz="1100"/>
          </a:p>
        </p:txBody>
      </p:sp>
      <p:sp>
        <p:nvSpPr>
          <p:cNvPr id="73" name="Google Shape;73;p16"/>
          <p:cNvSpPr/>
          <p:nvPr/>
        </p:nvSpPr>
        <p:spPr>
          <a:xfrm>
            <a:off x="600075" y="2386013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757238" y="2328863"/>
            <a:ext cx="441483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300"/>
              <a:buFont typeface="Helvetica Neue"/>
              <a:buNone/>
            </a:pPr>
            <a:r>
              <a:rPr b="0"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projeto não tenta validar cientificamente a persona; ele cria uma ferramenta para inspeção inicial.</a:t>
            </a:r>
            <a:endParaRPr sz="1100"/>
          </a:p>
        </p:txBody>
      </p:sp>
      <p:sp>
        <p:nvSpPr>
          <p:cNvPr id="75" name="Google Shape;75;p16"/>
          <p:cNvSpPr/>
          <p:nvPr/>
        </p:nvSpPr>
        <p:spPr>
          <a:xfrm>
            <a:off x="5857875" y="1171575"/>
            <a:ext cx="2629500" cy="1714500"/>
          </a:xfrm>
          <a:prstGeom prst="roundRect">
            <a:avLst>
              <a:gd fmla="val 3333" name="adj"/>
            </a:avLst>
          </a:prstGeom>
          <a:solidFill>
            <a:srgbClr val="EAF2F8"/>
          </a:solidFill>
          <a:ln cap="flat" cmpd="sng" w="9525">
            <a:solidFill>
              <a:srgbClr val="C4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6072203" y="1400175"/>
            <a:ext cx="2415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400"/>
              <a:buFont typeface="Helvetica Neue"/>
              <a:buNone/>
            </a:pPr>
            <a:r>
              <a:rPr b="1" lang="pt-BR" sz="1400">
                <a:solidFill>
                  <a:srgbClr val="1746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Unidade de comparação</a:t>
            </a:r>
            <a:endParaRPr sz="1100"/>
          </a:p>
        </p:txBody>
      </p:sp>
      <p:sp>
        <p:nvSpPr>
          <p:cNvPr id="77" name="Google Shape;77;p16"/>
          <p:cNvSpPr/>
          <p:nvPr/>
        </p:nvSpPr>
        <p:spPr>
          <a:xfrm>
            <a:off x="6072200" y="1785952"/>
            <a:ext cx="16431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do paper</a:t>
            </a:r>
            <a:endParaRPr sz="1100"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real</a:t>
            </a:r>
            <a:endParaRPr sz="1100"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Reviews L1 a L4</a:t>
            </a:r>
            <a:endParaRPr sz="1100"/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lexicais</a:t>
            </a:r>
            <a:endParaRPr sz="1100"/>
          </a:p>
        </p:txBody>
      </p:sp>
      <p:sp>
        <p:nvSpPr>
          <p:cNvPr id="78" name="Google Shape;78;p16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02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Processo</a:t>
            </a:r>
            <a:endParaRPr sz="1100"/>
          </a:p>
        </p:txBody>
      </p:sp>
      <p:sp>
        <p:nvSpPr>
          <p:cNvPr id="85" name="Google Shape;85;p17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Contrato spec-driven</a:t>
            </a:r>
            <a:endParaRPr sz="1100"/>
          </a:p>
        </p:txBody>
      </p:sp>
      <p:sp>
        <p:nvSpPr>
          <p:cNvPr id="86" name="Google Shape;86;p17"/>
          <p:cNvSpPr/>
          <p:nvPr/>
        </p:nvSpPr>
        <p:spPr>
          <a:xfrm>
            <a:off x="628650" y="1328738"/>
            <a:ext cx="1700213" cy="1357313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785813" y="15716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17466F"/>
                </a:solidFill>
                <a:latin typeface="Arial"/>
                <a:ea typeface="Arial"/>
                <a:cs typeface="Arial"/>
                <a:sym typeface="Arial"/>
              </a:rPr>
              <a:t>constitution.md</a:t>
            </a:r>
            <a:endParaRPr sz="1100"/>
          </a:p>
        </p:txBody>
      </p:sp>
      <p:sp>
        <p:nvSpPr>
          <p:cNvPr id="88" name="Google Shape;88;p17"/>
          <p:cNvSpPr/>
          <p:nvPr/>
        </p:nvSpPr>
        <p:spPr>
          <a:xfrm>
            <a:off x="785813" y="1900238"/>
            <a:ext cx="1071563" cy="7144"/>
          </a:xfrm>
          <a:prstGeom prst="rect">
            <a:avLst/>
          </a:prstGeom>
          <a:solidFill>
            <a:srgbClr val="D98F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85813" y="2085975"/>
            <a:ext cx="135731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princípios e restrições</a:t>
            </a:r>
            <a:endParaRPr sz="1100"/>
          </a:p>
        </p:txBody>
      </p:sp>
      <p:sp>
        <p:nvSpPr>
          <p:cNvPr id="90" name="Google Shape;90;p17"/>
          <p:cNvSpPr/>
          <p:nvPr/>
        </p:nvSpPr>
        <p:spPr>
          <a:xfrm>
            <a:off x="2664619" y="1328738"/>
            <a:ext cx="1700213" cy="1357313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2821781" y="15716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17466F"/>
                </a:solidFill>
                <a:latin typeface="Arial"/>
                <a:ea typeface="Arial"/>
                <a:cs typeface="Arial"/>
                <a:sym typeface="Arial"/>
              </a:rPr>
              <a:t>spec.md</a:t>
            </a:r>
            <a:endParaRPr sz="1100"/>
          </a:p>
        </p:txBody>
      </p:sp>
      <p:sp>
        <p:nvSpPr>
          <p:cNvPr id="92" name="Google Shape;92;p17"/>
          <p:cNvSpPr/>
          <p:nvPr/>
        </p:nvSpPr>
        <p:spPr>
          <a:xfrm>
            <a:off x="2821781" y="1900238"/>
            <a:ext cx="1071563" cy="7144"/>
          </a:xfrm>
          <a:prstGeom prst="rect">
            <a:avLst/>
          </a:prstGeom>
          <a:solidFill>
            <a:srgbClr val="D98F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2821781" y="2085975"/>
            <a:ext cx="135731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histórias e critérios de aceitação</a:t>
            </a:r>
            <a:endParaRPr sz="1100"/>
          </a:p>
        </p:txBody>
      </p:sp>
      <p:sp>
        <p:nvSpPr>
          <p:cNvPr id="94" name="Google Shape;94;p17"/>
          <p:cNvSpPr/>
          <p:nvPr/>
        </p:nvSpPr>
        <p:spPr>
          <a:xfrm>
            <a:off x="4700588" y="1328738"/>
            <a:ext cx="1700213" cy="1357313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4857750" y="15716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17466F"/>
                </a:solidFill>
                <a:latin typeface="Arial"/>
                <a:ea typeface="Arial"/>
                <a:cs typeface="Arial"/>
                <a:sym typeface="Arial"/>
              </a:rPr>
              <a:t>plan.md</a:t>
            </a:r>
            <a:endParaRPr sz="1100"/>
          </a:p>
        </p:txBody>
      </p:sp>
      <p:sp>
        <p:nvSpPr>
          <p:cNvPr id="96" name="Google Shape;96;p17"/>
          <p:cNvSpPr/>
          <p:nvPr/>
        </p:nvSpPr>
        <p:spPr>
          <a:xfrm>
            <a:off x="4857750" y="1900238"/>
            <a:ext cx="1071563" cy="7144"/>
          </a:xfrm>
          <a:prstGeom prst="rect">
            <a:avLst/>
          </a:prstGeom>
          <a:solidFill>
            <a:srgbClr val="D98F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4857750" y="2085975"/>
            <a:ext cx="135731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decisões técnicas e riscos</a:t>
            </a:r>
            <a:endParaRPr sz="1100"/>
          </a:p>
        </p:txBody>
      </p:sp>
      <p:sp>
        <p:nvSpPr>
          <p:cNvPr id="98" name="Google Shape;98;p17"/>
          <p:cNvSpPr/>
          <p:nvPr/>
        </p:nvSpPr>
        <p:spPr>
          <a:xfrm>
            <a:off x="6736556" y="1328738"/>
            <a:ext cx="1700213" cy="1357313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893719" y="15716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100"/>
              <a:buFont typeface="Arial"/>
              <a:buNone/>
            </a:pPr>
            <a:r>
              <a:rPr b="1" lang="pt-BR" sz="1100">
                <a:solidFill>
                  <a:srgbClr val="17466F"/>
                </a:solidFill>
                <a:latin typeface="Arial"/>
                <a:ea typeface="Arial"/>
                <a:cs typeface="Arial"/>
                <a:sym typeface="Arial"/>
              </a:rPr>
              <a:t>tasks.md</a:t>
            </a:r>
            <a:endParaRPr sz="1100"/>
          </a:p>
        </p:txBody>
      </p:sp>
      <p:sp>
        <p:nvSpPr>
          <p:cNvPr id="100" name="Google Shape;100;p17"/>
          <p:cNvSpPr/>
          <p:nvPr/>
        </p:nvSpPr>
        <p:spPr>
          <a:xfrm>
            <a:off x="6893719" y="1900238"/>
            <a:ext cx="1071563" cy="7144"/>
          </a:xfrm>
          <a:prstGeom prst="rect">
            <a:avLst/>
          </a:prstGeom>
          <a:solidFill>
            <a:srgbClr val="D98F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6893719" y="2085975"/>
            <a:ext cx="135731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execução em itens verificáveis</a:t>
            </a:r>
            <a:endParaRPr sz="1100"/>
          </a:p>
        </p:txBody>
      </p:sp>
      <p:sp>
        <p:nvSpPr>
          <p:cNvPr id="102" name="Google Shape;102;p17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Constitution</a:t>
            </a:r>
            <a:endParaRPr sz="1100"/>
          </a:p>
        </p:txBody>
      </p:sp>
      <p:sp>
        <p:nvSpPr>
          <p:cNvPr id="109" name="Google Shape;109;p18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Princípios que guiaram o app</a:t>
            </a:r>
            <a:endParaRPr sz="1100"/>
          </a:p>
        </p:txBody>
      </p:sp>
      <p:sp>
        <p:nvSpPr>
          <p:cNvPr id="110" name="Google Shape;110;p18"/>
          <p:cNvSpPr/>
          <p:nvPr/>
        </p:nvSpPr>
        <p:spPr>
          <a:xfrm>
            <a:off x="657225" y="1185863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814388" y="1128713"/>
            <a:ext cx="70580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L1, L2 e L3 usam a review real apenas como alvo local de comparação.</a:t>
            </a:r>
            <a:endParaRPr sz="1100"/>
          </a:p>
        </p:txBody>
      </p:sp>
      <p:sp>
        <p:nvSpPr>
          <p:cNvPr id="112" name="Google Shape;112;p18"/>
          <p:cNvSpPr/>
          <p:nvPr/>
        </p:nvSpPr>
        <p:spPr>
          <a:xfrm>
            <a:off x="657225" y="1700213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814388" y="1643063"/>
            <a:ext cx="70580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L4 recebe a review real de propósito como condição de calibração.</a:t>
            </a:r>
            <a:endParaRPr sz="1100"/>
          </a:p>
        </p:txBody>
      </p:sp>
      <p:sp>
        <p:nvSpPr>
          <p:cNvPr id="114" name="Google Shape;114;p18"/>
          <p:cNvSpPr/>
          <p:nvPr/>
        </p:nvSpPr>
        <p:spPr>
          <a:xfrm>
            <a:off x="657225" y="2214563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14388" y="2157413"/>
            <a:ext cx="7058025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b="0"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PDF do paper entra em todos os níveis como fonte do conteúdo.</a:t>
            </a:r>
            <a:endParaRPr sz="1100"/>
          </a:p>
        </p:txBody>
      </p:sp>
      <p:sp>
        <p:nvSpPr>
          <p:cNvPr id="116" name="Google Shape;116;p18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04</a:t>
            </a:r>
            <a:endParaRPr sz="1100"/>
          </a:p>
        </p:txBody>
      </p:sp>
      <p:sp>
        <p:nvSpPr>
          <p:cNvPr id="117" name="Google Shape;117;p18"/>
          <p:cNvSpPr/>
          <p:nvPr/>
        </p:nvSpPr>
        <p:spPr>
          <a:xfrm>
            <a:off x="657225" y="2693163"/>
            <a:ext cx="57000" cy="5700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814388" y="2636013"/>
            <a:ext cx="7058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200"/>
              <a:buFont typeface="Helvetica Neue"/>
              <a:buNone/>
            </a:pPr>
            <a:r>
              <a:rPr lang="pt-BR" sz="12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de comparação simples.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Desenho experimental</a:t>
            </a:r>
            <a:endParaRPr sz="1100"/>
          </a:p>
        </p:txBody>
      </p:sp>
      <p:sp>
        <p:nvSpPr>
          <p:cNvPr id="125" name="Google Shape;125;p19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Quatro níveis de persona</a:t>
            </a:r>
            <a:endParaRPr sz="1100"/>
          </a:p>
        </p:txBody>
      </p:sp>
      <p:sp>
        <p:nvSpPr>
          <p:cNvPr id="126" name="Google Shape;126;p19"/>
          <p:cNvSpPr/>
          <p:nvPr/>
        </p:nvSpPr>
        <p:spPr>
          <a:xfrm>
            <a:off x="585788" y="1357313"/>
            <a:ext cx="1757363" cy="1785937"/>
          </a:xfrm>
          <a:prstGeom prst="roundRect">
            <a:avLst>
              <a:gd fmla="val 3252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757238" y="1585913"/>
            <a:ext cx="642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2100"/>
              <a:buFont typeface="Helvetica Neue"/>
              <a:buNone/>
            </a:pPr>
            <a:r>
              <a:rPr b="1" lang="pt-BR" sz="2100">
                <a:solidFill>
                  <a:srgbClr val="1746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L1</a:t>
            </a:r>
            <a:endParaRPr sz="1100"/>
          </a:p>
        </p:txBody>
      </p:sp>
      <p:sp>
        <p:nvSpPr>
          <p:cNvPr id="128" name="Google Shape;128;p19"/>
          <p:cNvSpPr/>
          <p:nvPr/>
        </p:nvSpPr>
        <p:spPr>
          <a:xfrm>
            <a:off x="757238" y="2014538"/>
            <a:ext cx="1357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400"/>
              <a:buFont typeface="Helvetica Neue"/>
              <a:buNone/>
            </a:pPr>
            <a:r>
              <a:rPr b="1" lang="pt-BR" sz="14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Genérica</a:t>
            </a:r>
            <a:endParaRPr sz="1100"/>
          </a:p>
        </p:txBody>
      </p:sp>
      <p:sp>
        <p:nvSpPr>
          <p:cNvPr id="129" name="Google Shape;129;p19"/>
          <p:cNvSpPr/>
          <p:nvPr/>
        </p:nvSpPr>
        <p:spPr>
          <a:xfrm>
            <a:off x="757238" y="2400300"/>
            <a:ext cx="13573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papel mínimo de revisor ML</a:t>
            </a:r>
            <a:endParaRPr sz="1100"/>
          </a:p>
        </p:txBody>
      </p:sp>
      <p:sp>
        <p:nvSpPr>
          <p:cNvPr id="130" name="Google Shape;130;p19"/>
          <p:cNvSpPr/>
          <p:nvPr/>
        </p:nvSpPr>
        <p:spPr>
          <a:xfrm>
            <a:off x="2671763" y="1357313"/>
            <a:ext cx="1757363" cy="1785937"/>
          </a:xfrm>
          <a:prstGeom prst="roundRect">
            <a:avLst>
              <a:gd fmla="val 3252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2843213" y="1585913"/>
            <a:ext cx="642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2100"/>
              <a:buFont typeface="Helvetica Neue"/>
              <a:buNone/>
            </a:pPr>
            <a:r>
              <a:rPr b="1" lang="pt-BR" sz="2100">
                <a:solidFill>
                  <a:srgbClr val="1746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L2</a:t>
            </a:r>
            <a:endParaRPr sz="1100"/>
          </a:p>
        </p:txBody>
      </p:sp>
      <p:sp>
        <p:nvSpPr>
          <p:cNvPr id="132" name="Google Shape;132;p19"/>
          <p:cNvSpPr/>
          <p:nvPr/>
        </p:nvSpPr>
        <p:spPr>
          <a:xfrm>
            <a:off x="2843213" y="2014538"/>
            <a:ext cx="1357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400"/>
              <a:buFont typeface="Helvetica Neue"/>
              <a:buNone/>
            </a:pPr>
            <a:r>
              <a:rPr b="1" lang="pt-BR" sz="14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Especialista</a:t>
            </a:r>
            <a:endParaRPr sz="1100"/>
          </a:p>
        </p:txBody>
      </p:sp>
      <p:sp>
        <p:nvSpPr>
          <p:cNvPr id="133" name="Google Shape;133;p19"/>
          <p:cNvSpPr/>
          <p:nvPr/>
        </p:nvSpPr>
        <p:spPr>
          <a:xfrm>
            <a:off x="2843213" y="2400300"/>
            <a:ext cx="13573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domínio técnico do paper</a:t>
            </a:r>
            <a:endParaRPr sz="1100"/>
          </a:p>
        </p:txBody>
      </p:sp>
      <p:sp>
        <p:nvSpPr>
          <p:cNvPr id="134" name="Google Shape;134;p19"/>
          <p:cNvSpPr/>
          <p:nvPr/>
        </p:nvSpPr>
        <p:spPr>
          <a:xfrm>
            <a:off x="4757738" y="1357313"/>
            <a:ext cx="1757363" cy="1785937"/>
          </a:xfrm>
          <a:prstGeom prst="roundRect">
            <a:avLst>
              <a:gd fmla="val 3252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4929188" y="1585913"/>
            <a:ext cx="642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2100"/>
              <a:buFont typeface="Helvetica Neue"/>
              <a:buNone/>
            </a:pPr>
            <a:r>
              <a:rPr b="1" lang="pt-BR" sz="2100">
                <a:solidFill>
                  <a:srgbClr val="1746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L3</a:t>
            </a:r>
            <a:endParaRPr sz="1100"/>
          </a:p>
        </p:txBody>
      </p:sp>
      <p:sp>
        <p:nvSpPr>
          <p:cNvPr id="136" name="Google Shape;136;p19"/>
          <p:cNvSpPr/>
          <p:nvPr/>
        </p:nvSpPr>
        <p:spPr>
          <a:xfrm>
            <a:off x="4929188" y="2014538"/>
            <a:ext cx="1357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400"/>
              <a:buFont typeface="Helvetica Neue"/>
              <a:buNone/>
            </a:pPr>
            <a:r>
              <a:rPr b="1" lang="pt-BR" sz="14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Julgamento</a:t>
            </a:r>
            <a:endParaRPr sz="1100"/>
          </a:p>
        </p:txBody>
      </p:sp>
      <p:sp>
        <p:nvSpPr>
          <p:cNvPr id="137" name="Google Shape;137;p19"/>
          <p:cNvSpPr/>
          <p:nvPr/>
        </p:nvSpPr>
        <p:spPr>
          <a:xfrm>
            <a:off x="4929188" y="2400300"/>
            <a:ext cx="13573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prioridades individuais</a:t>
            </a:r>
            <a:endParaRPr sz="1100"/>
          </a:p>
        </p:txBody>
      </p:sp>
      <p:sp>
        <p:nvSpPr>
          <p:cNvPr id="138" name="Google Shape;138;p19"/>
          <p:cNvSpPr/>
          <p:nvPr/>
        </p:nvSpPr>
        <p:spPr>
          <a:xfrm>
            <a:off x="6843713" y="1357313"/>
            <a:ext cx="1757363" cy="1785937"/>
          </a:xfrm>
          <a:prstGeom prst="roundRect">
            <a:avLst>
              <a:gd fmla="val 3252" name="adj"/>
            </a:avLst>
          </a:prstGeom>
          <a:solidFill>
            <a:srgbClr val="FFF6EA"/>
          </a:solidFill>
          <a:ln cap="flat" cmpd="sng" w="9525">
            <a:solidFill>
              <a:srgbClr val="D8B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7015163" y="1585913"/>
            <a:ext cx="64293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5B13"/>
              </a:buClr>
              <a:buSzPts val="2100"/>
              <a:buFont typeface="Helvetica Neue"/>
              <a:buNone/>
            </a:pPr>
            <a:r>
              <a:rPr b="1" lang="pt-BR" sz="2100">
                <a:solidFill>
                  <a:srgbClr val="9A5B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L4</a:t>
            </a:r>
            <a:endParaRPr sz="1100"/>
          </a:p>
        </p:txBody>
      </p:sp>
      <p:sp>
        <p:nvSpPr>
          <p:cNvPr id="140" name="Google Shape;140;p19"/>
          <p:cNvSpPr/>
          <p:nvPr/>
        </p:nvSpPr>
        <p:spPr>
          <a:xfrm>
            <a:off x="7015163" y="2014538"/>
            <a:ext cx="1357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400"/>
              <a:buFont typeface="Helvetica Neue"/>
              <a:buNone/>
            </a:pPr>
            <a:r>
              <a:rPr b="1" lang="pt-BR" sz="14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Calibração</a:t>
            </a:r>
            <a:endParaRPr sz="1100"/>
          </a:p>
        </p:txBody>
      </p:sp>
      <p:sp>
        <p:nvSpPr>
          <p:cNvPr id="141" name="Google Shape;141;p19"/>
          <p:cNvSpPr/>
          <p:nvPr/>
        </p:nvSpPr>
        <p:spPr>
          <a:xfrm>
            <a:off x="7015163" y="2400300"/>
            <a:ext cx="13573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real como controle</a:t>
            </a:r>
            <a:endParaRPr sz="1100"/>
          </a:p>
        </p:txBody>
      </p:sp>
      <p:sp>
        <p:nvSpPr>
          <p:cNvPr id="142" name="Google Shape;142;p19"/>
          <p:cNvSpPr/>
          <p:nvPr/>
        </p:nvSpPr>
        <p:spPr>
          <a:xfrm>
            <a:off x="742950" y="3714750"/>
            <a:ext cx="68580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400"/>
              <a:buFont typeface="Helvetica Neue"/>
              <a:buNone/>
            </a:pPr>
            <a:r>
              <a:rPr b="1" lang="pt-BR" sz="14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L4 ajuda a interpretar o teto das métricas, mas deve ser lido separado dos níveis sem acesso ao alvo.</a:t>
            </a:r>
            <a:endParaRPr sz="1100"/>
          </a:p>
        </p:txBody>
      </p:sp>
      <p:sp>
        <p:nvSpPr>
          <p:cNvPr id="143" name="Google Shape;143;p19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Demonstração</a:t>
            </a:r>
            <a:endParaRPr sz="1100"/>
          </a:p>
        </p:txBody>
      </p:sp>
      <p:sp>
        <p:nvSpPr>
          <p:cNvPr id="150" name="Google Shape;150;p20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Ferramenta implementada</a:t>
            </a:r>
            <a:endParaRPr sz="1100"/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5301" l="0" r="0" t="5301"/>
          <a:stretch/>
        </p:blipFill>
        <p:spPr>
          <a:xfrm>
            <a:off x="500063" y="1071563"/>
            <a:ext cx="5286375" cy="3071813"/>
          </a:xfrm>
          <a:prstGeom prst="roundRect">
            <a:avLst>
              <a:gd fmla="val 1860" name="adj"/>
            </a:avLst>
          </a:prstGeom>
          <a:noFill/>
          <a:ln>
            <a:noFill/>
          </a:ln>
        </p:spPr>
      </p:pic>
      <p:sp>
        <p:nvSpPr>
          <p:cNvPr id="152" name="Google Shape;152;p20"/>
          <p:cNvSpPr/>
          <p:nvPr/>
        </p:nvSpPr>
        <p:spPr>
          <a:xfrm>
            <a:off x="6143625" y="1314450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6300788" y="1257300"/>
            <a:ext cx="21288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Entrada: review real e PDF do paper.</a:t>
            </a:r>
            <a:endParaRPr sz="1100"/>
          </a:p>
        </p:txBody>
      </p:sp>
      <p:sp>
        <p:nvSpPr>
          <p:cNvPr id="154" name="Google Shape;154;p20"/>
          <p:cNvSpPr/>
          <p:nvPr/>
        </p:nvSpPr>
        <p:spPr>
          <a:xfrm>
            <a:off x="6143625" y="1814513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6300788" y="1757363"/>
            <a:ext cx="21288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Controle: prompts por nível.</a:t>
            </a:r>
            <a:endParaRPr sz="1100"/>
          </a:p>
        </p:txBody>
      </p:sp>
      <p:sp>
        <p:nvSpPr>
          <p:cNvPr id="156" name="Google Shape;156;p20"/>
          <p:cNvSpPr/>
          <p:nvPr/>
        </p:nvSpPr>
        <p:spPr>
          <a:xfrm>
            <a:off x="6143625" y="2314575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6300788" y="2257425"/>
            <a:ext cx="21288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Saída: quatro reviews geradas em campos somente leitura.</a:t>
            </a:r>
            <a:endParaRPr sz="1100"/>
          </a:p>
        </p:txBody>
      </p:sp>
      <p:sp>
        <p:nvSpPr>
          <p:cNvPr id="158" name="Google Shape;158;p20"/>
          <p:cNvSpPr/>
          <p:nvPr/>
        </p:nvSpPr>
        <p:spPr>
          <a:xfrm>
            <a:off x="6143625" y="2814638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6300788" y="2757488"/>
            <a:ext cx="21288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Registro: exportação CSV com prompts, respostas e métricas.</a:t>
            </a:r>
            <a:endParaRPr sz="1100"/>
          </a:p>
        </p:txBody>
      </p:sp>
      <p:sp>
        <p:nvSpPr>
          <p:cNvPr id="160" name="Google Shape;160;p20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Evidência</a:t>
            </a:r>
            <a:endParaRPr sz="1100"/>
          </a:p>
        </p:txBody>
      </p:sp>
      <p:sp>
        <p:nvSpPr>
          <p:cNvPr id="167" name="Google Shape;167;p21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do teste final</a:t>
            </a:r>
            <a:endParaRPr sz="1100"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185863"/>
            <a:ext cx="5715000" cy="2786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/>
          <p:nvPr/>
        </p:nvSpPr>
        <p:spPr>
          <a:xfrm>
            <a:off x="6715125" y="1328750"/>
            <a:ext cx="2245500" cy="26433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6872775" y="1707800"/>
            <a:ext cx="19302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000"/>
              <a:buFont typeface="Helvetica Neue"/>
              <a:buNone/>
            </a:pPr>
            <a:r>
              <a:rPr b="0" lang="pt-BR" sz="1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L4 sobe porque recebe a review real.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1517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000"/>
              <a:buFont typeface="Helvetica Neue"/>
              <a:buNone/>
            </a:pPr>
            <a:r>
              <a:rPr b="0" lang="pt-BR" sz="1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L2 e L3 não melhoram de forma linear em todas as métricas.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15171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000"/>
              <a:buFont typeface="Helvetica Neue"/>
              <a:buNone/>
            </a:pPr>
            <a:r>
              <a:rPr b="0" lang="pt-BR" sz="1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métricas ajudam a inspecionar, mas não provam equivalência semântica.</a:t>
            </a:r>
            <a:endParaRPr sz="1100"/>
          </a:p>
        </p:txBody>
      </p:sp>
      <p:sp>
        <p:nvSpPr>
          <p:cNvPr id="171" name="Google Shape;171;p21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07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Aprendizado</a:t>
            </a:r>
            <a:endParaRPr sz="1100"/>
          </a:p>
        </p:txBody>
      </p:sp>
      <p:sp>
        <p:nvSpPr>
          <p:cNvPr id="178" name="Google Shape;178;p22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Mudanças de escopo durante a implementação</a:t>
            </a:r>
            <a:endParaRPr sz="1100"/>
          </a:p>
        </p:txBody>
      </p:sp>
      <p:sp>
        <p:nvSpPr>
          <p:cNvPr id="179" name="Google Shape;179;p22"/>
          <p:cNvSpPr/>
          <p:nvPr/>
        </p:nvSpPr>
        <p:spPr>
          <a:xfrm>
            <a:off x="685800" y="1214438"/>
            <a:ext cx="3000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600"/>
              <a:buFont typeface="Helvetica Neue"/>
              <a:buNone/>
            </a:pPr>
            <a:r>
              <a:rPr b="1" lang="pt-BR" sz="1600">
                <a:solidFill>
                  <a:srgbClr val="1746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mudou</a:t>
            </a:r>
            <a:endParaRPr sz="1100"/>
          </a:p>
        </p:txBody>
      </p:sp>
      <p:sp>
        <p:nvSpPr>
          <p:cNvPr id="180" name="Google Shape;180;p22"/>
          <p:cNvSpPr/>
          <p:nvPr/>
        </p:nvSpPr>
        <p:spPr>
          <a:xfrm>
            <a:off x="714375" y="1685925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871538" y="1628775"/>
            <a:ext cx="30575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Ideia inicial: comparar dois textos abertos.</a:t>
            </a:r>
            <a:endParaRPr sz="1100"/>
          </a:p>
        </p:txBody>
      </p:sp>
      <p:sp>
        <p:nvSpPr>
          <p:cNvPr id="182" name="Google Shape;182;p22"/>
          <p:cNvSpPr/>
          <p:nvPr/>
        </p:nvSpPr>
        <p:spPr>
          <a:xfrm>
            <a:off x="714375" y="2185988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871538" y="2128838"/>
            <a:ext cx="30575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Versão entregue: gerar reviews em quatro níveis.</a:t>
            </a:r>
            <a:endParaRPr sz="1100"/>
          </a:p>
        </p:txBody>
      </p:sp>
      <p:sp>
        <p:nvSpPr>
          <p:cNvPr id="184" name="Google Shape;184;p22"/>
          <p:cNvSpPr/>
          <p:nvPr/>
        </p:nvSpPr>
        <p:spPr>
          <a:xfrm>
            <a:off x="4643438" y="1214438"/>
            <a:ext cx="3000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7466F"/>
              </a:buClr>
              <a:buSzPts val="1600"/>
              <a:buFont typeface="Helvetica Neue"/>
              <a:buNone/>
            </a:pPr>
            <a:r>
              <a:rPr b="1" lang="pt-BR" sz="1600">
                <a:solidFill>
                  <a:srgbClr val="17466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que importou</a:t>
            </a:r>
            <a:endParaRPr sz="1100"/>
          </a:p>
        </p:txBody>
      </p:sp>
      <p:sp>
        <p:nvSpPr>
          <p:cNvPr id="185" name="Google Shape;185;p22"/>
          <p:cNvSpPr/>
          <p:nvPr/>
        </p:nvSpPr>
        <p:spPr>
          <a:xfrm>
            <a:off x="4672013" y="1685925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4829175" y="1628775"/>
            <a:ext cx="3200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superficiais foram removidas.</a:t>
            </a:r>
            <a:endParaRPr sz="1100"/>
          </a:p>
        </p:txBody>
      </p:sp>
      <p:sp>
        <p:nvSpPr>
          <p:cNvPr id="187" name="Google Shape;187;p22"/>
          <p:cNvSpPr/>
          <p:nvPr/>
        </p:nvSpPr>
        <p:spPr>
          <a:xfrm>
            <a:off x="4672013" y="2185988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4829175" y="2128838"/>
            <a:ext cx="3200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interface escondeu controles que desviavam da tarefa.</a:t>
            </a:r>
            <a:endParaRPr sz="1100"/>
          </a:p>
        </p:txBody>
      </p:sp>
      <p:sp>
        <p:nvSpPr>
          <p:cNvPr id="189" name="Google Shape;189;p22"/>
          <p:cNvSpPr/>
          <p:nvPr/>
        </p:nvSpPr>
        <p:spPr>
          <a:xfrm>
            <a:off x="4672013" y="2686050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4829175" y="2628900"/>
            <a:ext cx="32004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100"/>
              <a:buFont typeface="Helvetica Neue"/>
              <a:buNone/>
            </a:pPr>
            <a:r>
              <a:rPr b="0" lang="pt-BR" sz="11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documentação acompanhou as decisões, em vez de congelar o plano inicial.</a:t>
            </a:r>
            <a:endParaRPr sz="1100"/>
          </a:p>
        </p:txBody>
      </p:sp>
      <p:sp>
        <p:nvSpPr>
          <p:cNvPr id="191" name="Google Shape;191;p22"/>
          <p:cNvSpPr/>
          <p:nvPr/>
        </p:nvSpPr>
        <p:spPr>
          <a:xfrm>
            <a:off x="4357688" y="1200150"/>
            <a:ext cx="7144" cy="7144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08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500063" y="300038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85F8F"/>
              </a:buClr>
              <a:buSzPts val="700"/>
              <a:buFont typeface="Helvetica Neue"/>
              <a:buNone/>
            </a:pPr>
            <a:r>
              <a:rPr b="1" lang="pt-BR" sz="700">
                <a:solidFill>
                  <a:srgbClr val="285F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Fechamento</a:t>
            </a:r>
            <a:endParaRPr sz="1100"/>
          </a:p>
        </p:txBody>
      </p:sp>
      <p:sp>
        <p:nvSpPr>
          <p:cNvPr id="199" name="Google Shape;199;p23"/>
          <p:cNvSpPr/>
          <p:nvPr/>
        </p:nvSpPr>
        <p:spPr>
          <a:xfrm>
            <a:off x="500063" y="500063"/>
            <a:ext cx="6429375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2000"/>
              <a:buFont typeface="Helvetica Neue"/>
              <a:buNone/>
            </a:pPr>
            <a:r>
              <a:rPr b="1" lang="pt-BR" sz="20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 do relato</a:t>
            </a:r>
            <a:endParaRPr sz="1100"/>
          </a:p>
        </p:txBody>
      </p:sp>
      <p:sp>
        <p:nvSpPr>
          <p:cNvPr id="200" name="Google Shape;200;p23"/>
          <p:cNvSpPr/>
          <p:nvPr/>
        </p:nvSpPr>
        <p:spPr>
          <a:xfrm>
            <a:off x="671525" y="1200150"/>
            <a:ext cx="7358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900"/>
              <a:buFont typeface="Helvetica Neue"/>
              <a:buNone/>
            </a:pPr>
            <a:r>
              <a:rPr b="1" lang="pt-BR" sz="19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Desenvolvimento estável, auditável, flexível e acessível.</a:t>
            </a:r>
            <a:br>
              <a:rPr b="1" lang="pt-BR" sz="19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pt-BR" sz="19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SDD mais como disciplina do que como burocracia.</a:t>
            </a:r>
            <a:endParaRPr sz="1100"/>
          </a:p>
        </p:txBody>
      </p:sp>
      <p:sp>
        <p:nvSpPr>
          <p:cNvPr id="201" name="Google Shape;201;p23"/>
          <p:cNvSpPr/>
          <p:nvPr/>
        </p:nvSpPr>
        <p:spPr>
          <a:xfrm>
            <a:off x="800100" y="2228850"/>
            <a:ext cx="57150" cy="5715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957263" y="2171700"/>
            <a:ext cx="6272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300"/>
              <a:buFont typeface="Helvetica Neue"/>
              <a:buNone/>
            </a:pPr>
            <a:r>
              <a:rPr b="0"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fonte de verdade ficou fora do chat e antes do código.</a:t>
            </a:r>
            <a:endParaRPr sz="1100"/>
          </a:p>
        </p:txBody>
      </p:sp>
      <p:sp>
        <p:nvSpPr>
          <p:cNvPr id="203" name="Google Shape;203;p23"/>
          <p:cNvSpPr/>
          <p:nvPr/>
        </p:nvSpPr>
        <p:spPr>
          <a:xfrm>
            <a:off x="800100" y="2693175"/>
            <a:ext cx="57000" cy="57000"/>
          </a:xfrm>
          <a:prstGeom prst="ellipse">
            <a:avLst/>
          </a:prstGeom>
          <a:solidFill>
            <a:srgbClr val="285F8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957263" y="2636025"/>
            <a:ext cx="6272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171A"/>
              </a:buClr>
              <a:buSzPts val="1300"/>
              <a:buFont typeface="Helvetica Neue"/>
              <a:buNone/>
            </a:pPr>
            <a:r>
              <a:rPr lang="pt-BR" sz="1300">
                <a:solidFill>
                  <a:srgbClr val="1517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Limitações: aplicação simples demais; experiência em desenvolvimento de software;</a:t>
            </a:r>
            <a:endParaRPr sz="1100"/>
          </a:p>
        </p:txBody>
      </p:sp>
      <p:sp>
        <p:nvSpPr>
          <p:cNvPr id="205" name="Google Shape;205;p23"/>
          <p:cNvSpPr/>
          <p:nvPr/>
        </p:nvSpPr>
        <p:spPr>
          <a:xfrm>
            <a:off x="500063" y="4800600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F6975"/>
              </a:buClr>
              <a:buSzPts val="700"/>
              <a:buFont typeface="Helvetica Neue"/>
              <a:buNone/>
            </a:pPr>
            <a:r>
              <a:rPr b="0" lang="pt-BR" sz="700">
                <a:solidFill>
                  <a:srgbClr val="5F697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 Review Lab  09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